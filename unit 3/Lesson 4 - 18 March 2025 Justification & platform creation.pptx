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05" r:id="rId2"/>
    <p:sldId id="400" r:id="rId3"/>
    <p:sldId id="399" r:id="rId4"/>
    <p:sldId id="364" r:id="rId5"/>
    <p:sldId id="305" r:id="rId6"/>
    <p:sldId id="306" r:id="rId7"/>
    <p:sldId id="307" r:id="rId8"/>
    <p:sldId id="398" r:id="rId9"/>
    <p:sldId id="401" r:id="rId10"/>
    <p:sldId id="402" r:id="rId11"/>
    <p:sldId id="373" r:id="rId12"/>
    <p:sldId id="259" r:id="rId13"/>
    <p:sldId id="407" r:id="rId14"/>
    <p:sldId id="408" r:id="rId15"/>
    <p:sldId id="410" r:id="rId16"/>
    <p:sldId id="411" r:id="rId17"/>
    <p:sldId id="412" r:id="rId18"/>
    <p:sldId id="409" r:id="rId19"/>
    <p:sldId id="413" r:id="rId20"/>
    <p:sldId id="406" r:id="rId21"/>
    <p:sldId id="40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1586-CE3C-4910-9AA9-A3C3C891D7A5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3715F-0022-48FF-9182-222B5FE02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0879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1586-CE3C-4910-9AA9-A3C3C891D7A5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3715F-0022-48FF-9182-222B5FE02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285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1586-CE3C-4910-9AA9-A3C3C891D7A5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3715F-0022-48FF-9182-222B5FE02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317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1586-CE3C-4910-9AA9-A3C3C891D7A5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3715F-0022-48FF-9182-222B5FE02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9033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1586-CE3C-4910-9AA9-A3C3C891D7A5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3715F-0022-48FF-9182-222B5FE02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940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1586-CE3C-4910-9AA9-A3C3C891D7A5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3715F-0022-48FF-9182-222B5FE02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202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1586-CE3C-4910-9AA9-A3C3C891D7A5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3715F-0022-48FF-9182-222B5FE02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278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1586-CE3C-4910-9AA9-A3C3C891D7A5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3715F-0022-48FF-9182-222B5FE02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84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1586-CE3C-4910-9AA9-A3C3C891D7A5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3715F-0022-48FF-9182-222B5FE02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744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1586-CE3C-4910-9AA9-A3C3C891D7A5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3715F-0022-48FF-9182-222B5FE02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336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1586-CE3C-4910-9AA9-A3C3C891D7A5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3715F-0022-48FF-9182-222B5FE02FC9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3959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1586-CE3C-4910-9AA9-A3C3C891D7A5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3715F-0022-48FF-9182-222B5FE02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204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1586-CE3C-4910-9AA9-A3C3C891D7A5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3715F-0022-48FF-9182-222B5FE02FC9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8807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1586-CE3C-4910-9AA9-A3C3C891D7A5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3715F-0022-48FF-9182-222B5FE02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789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1586-CE3C-4910-9AA9-A3C3C891D7A5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3715F-0022-48FF-9182-222B5FE02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8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81586-CE3C-4910-9AA9-A3C3C891D7A5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3715F-0022-48FF-9182-222B5FE02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7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81586-CE3C-4910-9AA9-A3C3C891D7A5}" type="datetimeFigureOut">
              <a:rPr lang="en-GB" smtClean="0"/>
              <a:t>06/05/2025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563715F-0022-48FF-9182-222B5FE02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025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weetgen.com/" TargetMode="External"/><Relationship Id="rId2" Type="http://schemas.openxmlformats.org/officeDocument/2006/relationships/hyperlink" Target="https://www.prankmenot.com/?facebook_status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hyperlink" Target="https://generatestatus.com/generate-fake-instagram-post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weetgen.com/" TargetMode="External"/><Relationship Id="rId2" Type="http://schemas.openxmlformats.org/officeDocument/2006/relationships/hyperlink" Target="https://www.prankmenot.com/?facebook_statu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eneratestatus.com/generate-fake-instagram-post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71" y="186718"/>
            <a:ext cx="8596668" cy="762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EC7114"/>
                </a:solidFill>
              </a:rPr>
              <a:t>The Basic Expectations in EVERY lesson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729" y="958697"/>
            <a:ext cx="3372152" cy="5080000"/>
          </a:xfrm>
        </p:spPr>
        <p:txBody>
          <a:bodyPr>
            <a:normAutofit fontScale="92500" lnSpcReduction="10000"/>
          </a:bodyPr>
          <a:lstStyle/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Be on time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Lanyard </a:t>
            </a:r>
            <a:r>
              <a:rPr lang="en-GB" sz="2200" b="1" u="sng" dirty="0">
                <a:latin typeface="Calibri" panose="020F0502020204030204" pitchFamily="34" charset="0"/>
                <a:cs typeface="Calibri" panose="020F0502020204030204" pitchFamily="34" charset="0"/>
              </a:rPr>
              <a:t>MUST</a:t>
            </a:r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 be worn at all times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Mobile phones off and in bags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No food or drink in the classroom (except water)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Be prepared to learn for every lesson (pen, paper, folder etc.)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Sit according to the seating plan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Work hard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Be respectful 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B47D0A-9A16-4E92-9131-BEC5042F9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29881" y="958697"/>
            <a:ext cx="3372152" cy="4356253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GB" sz="2500" b="1" dirty="0">
                <a:latin typeface="Calibri" panose="020F0502020204030204" pitchFamily="34" charset="0"/>
                <a:cs typeface="Calibri" panose="020F0502020204030204" pitchFamily="34" charset="0"/>
              </a:rPr>
              <a:t>DO NOW</a:t>
            </a:r>
          </a:p>
          <a:p>
            <a:pPr algn="ctr"/>
            <a:endParaRPr lang="en-GB" sz="25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GB" sz="2500" b="1" dirty="0">
                <a:latin typeface="Calibri" panose="020F0502020204030204" pitchFamily="34" charset="0"/>
                <a:cs typeface="Calibri" panose="020F0502020204030204" pitchFamily="34" charset="0"/>
              </a:rPr>
              <a:t>Is social media a benefit to a customer when resolving queries and managing issues.</a:t>
            </a:r>
          </a:p>
          <a:p>
            <a:pPr marL="0" indent="0" algn="ctr">
              <a:buNone/>
            </a:pPr>
            <a:endParaRPr lang="en-GB" sz="25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GB" sz="2500" b="1" dirty="0">
                <a:latin typeface="Calibri" panose="020F0502020204030204" pitchFamily="34" charset="0"/>
                <a:cs typeface="Calibri" panose="020F0502020204030204" pitchFamily="34" charset="0"/>
              </a:rPr>
              <a:t>Explain your answer using a sentence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565" y="194826"/>
            <a:ext cx="1698003" cy="14510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2AC77C-476B-4F28-A7FC-771A97829AF8}"/>
              </a:ext>
            </a:extLst>
          </p:cNvPr>
          <p:cNvSpPr txBox="1"/>
          <p:nvPr/>
        </p:nvSpPr>
        <p:spPr>
          <a:xfrm>
            <a:off x="7314214" y="883639"/>
            <a:ext cx="2965351" cy="603242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C- 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Connecting what you know already</a:t>
            </a:r>
          </a:p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O-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nline Learning, using sites like Canvas</a:t>
            </a:r>
            <a:endParaRPr lang="en-GB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N-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Cornell notes  for your note taking</a:t>
            </a:r>
          </a:p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S –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pacing out your learning over time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I-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nterleaving your subjects and topics to make connections</a:t>
            </a:r>
          </a:p>
          <a:p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D-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ual Coding your ideas through words and images  </a:t>
            </a:r>
          </a:p>
          <a:p>
            <a:endParaRPr lang="en-GB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E- 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Elaborating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by always asking Why? and How?</a:t>
            </a:r>
          </a:p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R-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etrieve</a:t>
            </a:r>
            <a:r>
              <a:rPr lang="en-GB" sz="1400" dirty="0">
                <a:highlight>
                  <a:srgbClr val="00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dirty="0">
                <a:highlight>
                  <a:srgbClr val="00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359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5200" y="2404534"/>
            <a:ext cx="8889999" cy="1646302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Unit 3:- </a:t>
            </a:r>
            <a:b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Using Social Media in Business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2"/>
            <a:ext cx="7766936" cy="2377263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Calibri" panose="020F0502020204030204" pitchFamily="34" charset="0"/>
                <a:cs typeface="Calibri" panose="020F0502020204030204" pitchFamily="34" charset="0"/>
              </a:rPr>
              <a:t>25 March 2025</a:t>
            </a: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11 &amp; 18 March 2025</a:t>
            </a:r>
          </a:p>
          <a:p>
            <a:endParaRPr lang="en-GB" sz="5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5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5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5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65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71" y="186718"/>
            <a:ext cx="8596668" cy="762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EC7114"/>
                </a:solidFill>
              </a:rPr>
              <a:t>The Basic Expectations in EVERY lesson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729" y="958697"/>
            <a:ext cx="3372152" cy="5080000"/>
          </a:xfrm>
        </p:spPr>
        <p:txBody>
          <a:bodyPr>
            <a:normAutofit fontScale="92500" lnSpcReduction="10000"/>
          </a:bodyPr>
          <a:lstStyle/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Be on time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Lanyard </a:t>
            </a:r>
            <a:r>
              <a:rPr lang="en-GB" sz="2200" b="1" u="sng" dirty="0">
                <a:latin typeface="Calibri" panose="020F0502020204030204" pitchFamily="34" charset="0"/>
                <a:cs typeface="Calibri" panose="020F0502020204030204" pitchFamily="34" charset="0"/>
              </a:rPr>
              <a:t>MUST</a:t>
            </a:r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 be worn at all times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Mobile phones off and in bags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No food or drink in the classroom (except water)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Be prepared to learn for every lesson (pen, paper, folder etc.)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Sit according to the seating plan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Work hard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Be respectful 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B47D0A-9A16-4E92-9131-BEC5042F9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29881" y="958697"/>
            <a:ext cx="3372152" cy="4356253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GB" sz="2500" b="1" dirty="0">
                <a:latin typeface="Calibri" panose="020F0502020204030204" pitchFamily="34" charset="0"/>
                <a:cs typeface="Calibri" panose="020F0502020204030204" pitchFamily="34" charset="0"/>
              </a:rPr>
              <a:t>DO NOW</a:t>
            </a:r>
          </a:p>
          <a:p>
            <a:pPr algn="ctr"/>
            <a:r>
              <a:rPr lang="en-GB" sz="2500" b="1" dirty="0">
                <a:latin typeface="Calibri" panose="020F0502020204030204" pitchFamily="34" charset="0"/>
                <a:cs typeface="Calibri" panose="020F0502020204030204" pitchFamily="34" charset="0"/>
              </a:rPr>
              <a:t>Q/A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565" y="194826"/>
            <a:ext cx="1698003" cy="14510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2AC77C-476B-4F28-A7FC-771A97829AF8}"/>
              </a:ext>
            </a:extLst>
          </p:cNvPr>
          <p:cNvSpPr txBox="1"/>
          <p:nvPr/>
        </p:nvSpPr>
        <p:spPr>
          <a:xfrm>
            <a:off x="7314214" y="883639"/>
            <a:ext cx="2965351" cy="603242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C- 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Connecting what you know already</a:t>
            </a:r>
          </a:p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O-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nline Learning, using sites like Canvas</a:t>
            </a:r>
            <a:endParaRPr lang="en-GB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N-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Cornell notes  for your note taking</a:t>
            </a:r>
          </a:p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S –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pacing out your learning over time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I-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nterleaving your subjects and topics to make connections</a:t>
            </a:r>
          </a:p>
          <a:p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D-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ual Coding your ideas through words and images  </a:t>
            </a:r>
          </a:p>
          <a:p>
            <a:endParaRPr lang="en-GB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E- 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Elaborating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by always asking Why? and How?</a:t>
            </a:r>
          </a:p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R-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etrieve</a:t>
            </a:r>
            <a:r>
              <a:rPr lang="en-GB" sz="1400" dirty="0">
                <a:highlight>
                  <a:srgbClr val="00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dirty="0">
                <a:highlight>
                  <a:srgbClr val="00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34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65B404-910D-4E67-39F1-129E29943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Aims/Objectives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ED4AE2-3689-A5F0-8124-0D04B1D67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4901"/>
            <a:ext cx="8596668" cy="4733499"/>
          </a:xfrm>
        </p:spPr>
        <p:txBody>
          <a:bodyPr>
            <a:normAutofit lnSpcReduction="10000"/>
          </a:bodyPr>
          <a:lstStyle/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What: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Justify what you have stated in your report for your given 		    organisation.  </a:t>
            </a:r>
          </a:p>
          <a:p>
            <a:pPr marL="457200" lvl="1" indent="0">
              <a:buNone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             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Create your social media platform</a:t>
            </a: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How: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Create a report reflecting on the feedback you received   	   		   from colleagues.  </a:t>
            </a:r>
          </a:p>
          <a:p>
            <a:pPr lvl="1"/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Using the social media platform stated in your report or    		  fake social media</a:t>
            </a:r>
            <a:endParaRPr lang="en-GB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Why: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To enable you to review/justify your choices based on   			  yours and others feedback.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         To show the impact of social media on audiences.</a:t>
            </a:r>
          </a:p>
        </p:txBody>
      </p:sp>
    </p:spTree>
    <p:extLst>
      <p:ext uri="{BB962C8B-B14F-4D97-AF65-F5344CB8AC3E}">
        <p14:creationId xmlns:p14="http://schemas.microsoft.com/office/powerpoint/2010/main" val="156471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8E238A-5BB4-DB7F-2A63-D73872A7C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Social Media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987443-B631-19CF-FE20-344357D68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59527"/>
            <a:ext cx="8596668" cy="4281835"/>
          </a:xfrm>
        </p:spPr>
        <p:txBody>
          <a:bodyPr/>
          <a:lstStyle/>
          <a:p>
            <a:r>
              <a:rPr lang="en-GB" sz="2000" b="0" i="0" dirty="0">
                <a:latin typeface="Calibri" panose="020F0502020204030204" pitchFamily="34" charset="0"/>
                <a:cs typeface="Calibri" panose="020F0502020204030204" pitchFamily="34" charset="0"/>
              </a:rPr>
              <a:t>Social media are websites that allow people to interact &amp; share information.</a:t>
            </a: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They allow us to form online communities and perform social networking.</a:t>
            </a: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4386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F86F1-44FE-D186-8407-12AD46BEA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65463"/>
            <a:ext cx="8974666" cy="748937"/>
          </a:xfrm>
        </p:spPr>
        <p:txBody>
          <a:bodyPr>
            <a:normAutofit fontScale="90000"/>
          </a:bodyPr>
          <a:lstStyle/>
          <a:p>
            <a:r>
              <a:rPr lang="en-GB" sz="2700" dirty="0">
                <a:latin typeface="Calibri" panose="020F0502020204030204" pitchFamily="34" charset="0"/>
                <a:cs typeface="Calibri" panose="020F0502020204030204" pitchFamily="34" charset="0"/>
              </a:rPr>
              <a:t>Task 2 – </a:t>
            </a:r>
            <a:r>
              <a:rPr lang="en-GB" sz="27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Produce a plan to use social media in a business to meet its business requirements</a:t>
            </a:r>
            <a:endParaRPr lang="en-GB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66A85-9471-8897-6D72-31E00207B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894" y="918753"/>
            <a:ext cx="8596668" cy="5773784"/>
          </a:xfrm>
        </p:spPr>
        <p:txBody>
          <a:bodyPr>
            <a:normAutofit lnSpcReduction="10000"/>
          </a:bodyPr>
          <a:lstStyle/>
          <a:p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small businesses has asked you to plan and implement the use of social media within their business.</a:t>
            </a:r>
          </a:p>
          <a:p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Introduction</a:t>
            </a:r>
            <a:endParaRPr lang="en-GB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 have been asked by the Chamber of Commerce to create a Social Media platform for (Name of your organisation)</a:t>
            </a:r>
            <a:endParaRPr lang="en-GB" sz="1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Business Requirements</a:t>
            </a:r>
          </a:p>
          <a:p>
            <a:pPr lvl="1"/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What is your chosen business going to use Social Media for?</a:t>
            </a:r>
          </a:p>
          <a:p>
            <a:pPr lvl="2"/>
            <a:r>
              <a:rPr lang="en-US" sz="16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Is it to sell the product, Create an image</a:t>
            </a:r>
          </a:p>
          <a:p>
            <a:r>
              <a:rPr lang="en-US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Social Media</a:t>
            </a:r>
          </a:p>
          <a:p>
            <a:pPr lvl="1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What Social Media do you need?  Choose 2 and state why</a:t>
            </a:r>
          </a:p>
          <a:p>
            <a:r>
              <a:rPr lang="en-US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Success Criteria</a:t>
            </a:r>
            <a:endParaRPr lang="en-US" sz="2000" b="1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lvl="1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How will you measure the success.  What do you want to achieve in the first 6 months?</a:t>
            </a:r>
            <a:endParaRPr lang="en-US" sz="2000" b="1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Timescale and responsibilities 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Have a plan of what you are going to do and when.  See table on page 197.  You will need to explain the reasons why you are doing what you stated.</a:t>
            </a:r>
            <a:endParaRPr lang="en-US" b="1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endParaRPr lang="en-US" sz="1800" b="1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endParaRPr lang="en-GB" sz="1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33E6FC-1D48-3D9A-09FC-C1239B1F4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819" y="506739"/>
            <a:ext cx="1047320" cy="8923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BAAFA1-037F-2EF6-18E5-2AD8E046EE73}"/>
              </a:ext>
            </a:extLst>
          </p:cNvPr>
          <p:cNvSpPr txBox="1"/>
          <p:nvPr/>
        </p:nvSpPr>
        <p:spPr>
          <a:xfrm>
            <a:off x="9637385" y="103510"/>
            <a:ext cx="1503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Facebook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0D5D0E-B1CC-207E-99B5-093BEBD95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896" y="1134638"/>
            <a:ext cx="1047320" cy="9029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9B5444-C975-E9CC-32E1-8533039E641C}"/>
              </a:ext>
            </a:extLst>
          </p:cNvPr>
          <p:cNvSpPr txBox="1"/>
          <p:nvPr/>
        </p:nvSpPr>
        <p:spPr>
          <a:xfrm>
            <a:off x="10718958" y="729734"/>
            <a:ext cx="1348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Twitter)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FB5A0-91B8-EDDF-A9DE-34C8FA49E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5785" y="2329389"/>
            <a:ext cx="909668" cy="8035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25FA3D-2AB3-AC2B-76EC-281EA3C4E30E}"/>
              </a:ext>
            </a:extLst>
          </p:cNvPr>
          <p:cNvSpPr txBox="1"/>
          <p:nvPr/>
        </p:nvSpPr>
        <p:spPr>
          <a:xfrm>
            <a:off x="9565785" y="1998839"/>
            <a:ext cx="1224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Instagram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13DBAC-B08D-AD9B-8E5B-9E25D4F1B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3166" y="2914373"/>
            <a:ext cx="1264770" cy="8239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17D54B-C686-6281-C108-19C8B3DED9ED}"/>
              </a:ext>
            </a:extLst>
          </p:cNvPr>
          <p:cNvSpPr txBox="1"/>
          <p:nvPr/>
        </p:nvSpPr>
        <p:spPr>
          <a:xfrm>
            <a:off x="10771411" y="2514701"/>
            <a:ext cx="1175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Youtube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04618B-EE73-D256-3031-BFD53B6EF6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5640" y="4105379"/>
            <a:ext cx="1266835" cy="8239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8EAB9A-F9B8-D9A7-E3CE-55B47A691C76}"/>
              </a:ext>
            </a:extLst>
          </p:cNvPr>
          <p:cNvSpPr txBox="1"/>
          <p:nvPr/>
        </p:nvSpPr>
        <p:spPr>
          <a:xfrm>
            <a:off x="9565640" y="3699708"/>
            <a:ext cx="117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Pinterest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1E68DB-E13E-226F-A6BC-11D6B66BBF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6219" y="5619466"/>
            <a:ext cx="1775781" cy="5184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12A5FB6-BFAA-BD21-DAA3-11D235C58132}"/>
              </a:ext>
            </a:extLst>
          </p:cNvPr>
          <p:cNvSpPr txBox="1"/>
          <p:nvPr/>
        </p:nvSpPr>
        <p:spPr>
          <a:xfrm>
            <a:off x="10607471" y="5153479"/>
            <a:ext cx="1503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Linkedin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99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5AD0E-8909-13D6-5CD2-F9C994694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322217"/>
            <a:ext cx="9265103" cy="830308"/>
          </a:xfrm>
        </p:spPr>
        <p:txBody>
          <a:bodyPr>
            <a:no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Task 2 – </a:t>
            </a:r>
            <a:r>
              <a:rPr lang="en-GB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Produce a plan to use social media in a business to meet its business requirements</a:t>
            </a:r>
            <a:endParaRPr lang="en-GB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E548E-298B-2177-0AFC-957398D80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784" y="1267097"/>
            <a:ext cx="8919218" cy="5590903"/>
          </a:xfrm>
        </p:spPr>
        <p:txBody>
          <a:bodyPr>
            <a:normAutofit/>
          </a:bodyPr>
          <a:lstStyle/>
          <a:p>
            <a:r>
              <a:rPr lang="en-US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Target Audience</a:t>
            </a:r>
          </a:p>
          <a:p>
            <a:pPr lvl="1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Who is your target audience, who is interested in your Product/Service (Age, Gender, Interest, Income). </a:t>
            </a:r>
          </a:p>
          <a:p>
            <a:pPr lvl="1"/>
            <a:r>
              <a:rPr lang="en-GB" sz="1800" dirty="0">
                <a:latin typeface="Calibri" panose="020F0502020204030204" pitchFamily="34" charset="0"/>
                <a:ea typeface="Times New Roman" panose="02020603050405020304" pitchFamily="18" charset="0"/>
              </a:rPr>
              <a:t>linking type of content to target audience to ensure it is engaging </a:t>
            </a:r>
          </a:p>
          <a:p>
            <a:pPr lvl="1"/>
            <a:r>
              <a:rPr lang="en-GB" sz="1800" dirty="0">
                <a:latin typeface="Calibri" panose="020F0502020204030204" pitchFamily="34" charset="0"/>
                <a:ea typeface="Times New Roman" panose="02020603050405020304" pitchFamily="18" charset="0"/>
              </a:rPr>
              <a:t>Researching keywords (e.g. Google </a:t>
            </a:r>
            <a:r>
              <a:rPr lang="en-GB" sz="1800" dirty="0" err="1">
                <a:latin typeface="Calibri" panose="020F0502020204030204" pitchFamily="34" charset="0"/>
                <a:ea typeface="Times New Roman" panose="02020603050405020304" pitchFamily="18" charset="0"/>
              </a:rPr>
              <a:t>AdwordsTM</a:t>
            </a:r>
            <a:r>
              <a:rPr lang="en-GB" sz="1800" dirty="0">
                <a:latin typeface="Calibri" panose="020F0502020204030204" pitchFamily="34" charset="0"/>
                <a:ea typeface="Times New Roman" panose="02020603050405020304" pitchFamily="18" charset="0"/>
              </a:rPr>
              <a:t>) and creating keyword strategies to  help users identify content </a:t>
            </a:r>
          </a:p>
          <a:p>
            <a:r>
              <a:rPr lang="en-GB" sz="2000" b="1" dirty="0">
                <a:latin typeface="Calibri" panose="020F0502020204030204" pitchFamily="34" charset="0"/>
                <a:ea typeface="Times New Roman" panose="02020603050405020304" pitchFamily="18" charset="0"/>
              </a:rPr>
              <a:t>Developing an online community </a:t>
            </a:r>
          </a:p>
          <a:p>
            <a:r>
              <a:rPr lang="en-GB" sz="2000" dirty="0">
                <a:latin typeface="Calibri" panose="020F0502020204030204" pitchFamily="34" charset="0"/>
                <a:ea typeface="Times New Roman" panose="02020603050405020304" pitchFamily="18" charset="0"/>
              </a:rPr>
              <a:t>Develop a strategy to encourage online community building, including: </a:t>
            </a:r>
          </a:p>
          <a:p>
            <a:pPr lvl="1"/>
            <a:r>
              <a:rPr lang="en-GB" sz="1800" dirty="0">
                <a:latin typeface="Calibri" panose="020F0502020204030204" pitchFamily="34" charset="0"/>
                <a:ea typeface="Times New Roman" panose="02020603050405020304" pitchFamily="18" charset="0"/>
              </a:rPr>
              <a:t>Use of promotional techniques, e.g. requesting feedback, surveys, special offers and creating links between social media websites and company e-commerce site </a:t>
            </a:r>
          </a:p>
          <a:p>
            <a:pPr lvl="1"/>
            <a:r>
              <a:rPr lang="en-GB" sz="1800" dirty="0">
                <a:latin typeface="Calibri" panose="020F0502020204030204" pitchFamily="34" charset="0"/>
                <a:ea typeface="Times New Roman" panose="02020603050405020304" pitchFamily="18" charset="0"/>
              </a:rPr>
              <a:t>Monitoring social media website streams and responding to queries, requests  and complaints. 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endParaRPr lang="en-GB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CED909-D095-1E78-47EB-36B75ECA6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819" y="506739"/>
            <a:ext cx="1047320" cy="8923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6B0FAA-E7BB-DE2E-AAB9-30ACE40B1C8C}"/>
              </a:ext>
            </a:extLst>
          </p:cNvPr>
          <p:cNvSpPr txBox="1"/>
          <p:nvPr/>
        </p:nvSpPr>
        <p:spPr>
          <a:xfrm>
            <a:off x="9637385" y="103510"/>
            <a:ext cx="1503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Facebook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76ADE6-4BBF-5855-784E-6E95438D4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896" y="1134638"/>
            <a:ext cx="1047320" cy="9029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CAAD1D-D6E9-A77B-5428-615A3724F34C}"/>
              </a:ext>
            </a:extLst>
          </p:cNvPr>
          <p:cNvSpPr txBox="1"/>
          <p:nvPr/>
        </p:nvSpPr>
        <p:spPr>
          <a:xfrm>
            <a:off x="10718958" y="729734"/>
            <a:ext cx="1348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Twitter)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318FDA-69D7-281E-6DA3-9C18F0140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5785" y="2329389"/>
            <a:ext cx="909668" cy="8035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3737AD-3FC0-CDFC-4559-C03C1C40BF25}"/>
              </a:ext>
            </a:extLst>
          </p:cNvPr>
          <p:cNvSpPr txBox="1"/>
          <p:nvPr/>
        </p:nvSpPr>
        <p:spPr>
          <a:xfrm>
            <a:off x="9565785" y="1998839"/>
            <a:ext cx="1224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Instagram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8478D5-EA07-8CDD-4EFF-B113304CCC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3166" y="2914373"/>
            <a:ext cx="1264770" cy="8239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F9D30A-1587-8AB6-EB25-D296129A6CDA}"/>
              </a:ext>
            </a:extLst>
          </p:cNvPr>
          <p:cNvSpPr txBox="1"/>
          <p:nvPr/>
        </p:nvSpPr>
        <p:spPr>
          <a:xfrm>
            <a:off x="10771411" y="2514701"/>
            <a:ext cx="1175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Youtube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A984FD-4243-76C3-9DB7-2DD93EF51A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5640" y="4105379"/>
            <a:ext cx="1266835" cy="8239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7B5E0C1-372C-4C27-AF85-9FFC0104B5FC}"/>
              </a:ext>
            </a:extLst>
          </p:cNvPr>
          <p:cNvSpPr txBox="1"/>
          <p:nvPr/>
        </p:nvSpPr>
        <p:spPr>
          <a:xfrm>
            <a:off x="9565640" y="3699708"/>
            <a:ext cx="117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Pinterest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01CA24-2E3C-7A37-C87F-08B3E8C4A8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6219" y="5619466"/>
            <a:ext cx="1775781" cy="5184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B15B8D0-EC0E-515D-99A6-388A05F0369E}"/>
              </a:ext>
            </a:extLst>
          </p:cNvPr>
          <p:cNvSpPr txBox="1"/>
          <p:nvPr/>
        </p:nvSpPr>
        <p:spPr>
          <a:xfrm>
            <a:off x="10607471" y="5153479"/>
            <a:ext cx="1503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Linkedin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04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BB1A5-5545-B934-37B0-FE774311B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13" y="156238"/>
            <a:ext cx="8596668" cy="950667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Task 2 – </a:t>
            </a:r>
            <a:r>
              <a:rPr lang="en-GB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Produce a plan to use social media in a business to meet its business requirements</a:t>
            </a:r>
            <a:endParaRPr lang="en-GB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0F59F-53A2-E4F8-14A3-983397A60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113" y="1209922"/>
            <a:ext cx="8596668" cy="3880773"/>
          </a:xfrm>
        </p:spPr>
        <p:txBody>
          <a:bodyPr/>
          <a:lstStyle/>
          <a:p>
            <a:r>
              <a:rPr lang="en-US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Timings</a:t>
            </a:r>
            <a:endParaRPr lang="en-US" sz="2000" b="1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lvl="1"/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When are you going to post content.  Identify what is the best time for the platforms you have chosen and state why.  Create a table of timings,  see page </a:t>
            </a:r>
            <a:r>
              <a:rPr lang="en-US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Page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202 fig 3.4</a:t>
            </a:r>
          </a:p>
          <a:p>
            <a:pPr lvl="1"/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r>
              <a:rPr lang="en-US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Developing a Social Media Policy 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Company Image/Philosophy (environmentally friendly), 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Guidelines for Content, Confidentiality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Security.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05AD22-80C9-A21C-D8D7-7EC599894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819" y="506739"/>
            <a:ext cx="1047320" cy="8923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2C53BA-2E84-BB84-3BE4-189272A9751E}"/>
              </a:ext>
            </a:extLst>
          </p:cNvPr>
          <p:cNvSpPr txBox="1"/>
          <p:nvPr/>
        </p:nvSpPr>
        <p:spPr>
          <a:xfrm>
            <a:off x="9637385" y="103510"/>
            <a:ext cx="1503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Facebook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C0422D-85CA-54DD-0C03-B3AE3D280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896" y="1134638"/>
            <a:ext cx="1047320" cy="9029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30449D-04F8-5FF5-F7D7-12D8CEC6D837}"/>
              </a:ext>
            </a:extLst>
          </p:cNvPr>
          <p:cNvSpPr txBox="1"/>
          <p:nvPr/>
        </p:nvSpPr>
        <p:spPr>
          <a:xfrm>
            <a:off x="10718958" y="729734"/>
            <a:ext cx="1348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Twitter)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D11001-A3C3-9198-AB33-18D39A73B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5785" y="2329389"/>
            <a:ext cx="909668" cy="8035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01F834-39AC-23C2-27E5-43CF8DE91899}"/>
              </a:ext>
            </a:extLst>
          </p:cNvPr>
          <p:cNvSpPr txBox="1"/>
          <p:nvPr/>
        </p:nvSpPr>
        <p:spPr>
          <a:xfrm>
            <a:off x="9565785" y="1998839"/>
            <a:ext cx="1224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Instagram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2C011E-2BAD-5195-FDBB-47D89575D7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3166" y="2914373"/>
            <a:ext cx="1264770" cy="8239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9DBF56-0734-914F-6C97-2A5299EA25F3}"/>
              </a:ext>
            </a:extLst>
          </p:cNvPr>
          <p:cNvSpPr txBox="1"/>
          <p:nvPr/>
        </p:nvSpPr>
        <p:spPr>
          <a:xfrm>
            <a:off x="10771411" y="2514701"/>
            <a:ext cx="1175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Youtube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349AC7-4059-70F1-E0BF-0E1D3E76B0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5640" y="4105379"/>
            <a:ext cx="1266835" cy="8239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7ACF71C-F439-D2E0-1A10-5D4F57E0D4DF}"/>
              </a:ext>
            </a:extLst>
          </p:cNvPr>
          <p:cNvSpPr txBox="1"/>
          <p:nvPr/>
        </p:nvSpPr>
        <p:spPr>
          <a:xfrm>
            <a:off x="9565640" y="3699708"/>
            <a:ext cx="117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Pinterest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4123065-9FD1-3A52-CB72-6131993719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6219" y="5619466"/>
            <a:ext cx="1775781" cy="5184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78BC81F-D645-1C39-D248-268F9DC2B93A}"/>
              </a:ext>
            </a:extLst>
          </p:cNvPr>
          <p:cNvSpPr txBox="1"/>
          <p:nvPr/>
        </p:nvSpPr>
        <p:spPr>
          <a:xfrm>
            <a:off x="10607471" y="5153479"/>
            <a:ext cx="1503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Linkedin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495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37453-A1C5-2F19-0041-5CBDBD905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 the plan with others in order to identify and inform improvements.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DAB75-ED37-2B7B-C6A1-F8167940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In your groups you will need to review each others work.</a:t>
            </a:r>
          </a:p>
          <a:p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Ensure you state whose work you are reviewing.</a:t>
            </a: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270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37453-A1C5-2F19-0041-5CBDBD905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93" y="315762"/>
            <a:ext cx="8596668" cy="1320800"/>
          </a:xfrm>
        </p:spPr>
        <p:txBody>
          <a:bodyPr/>
          <a:lstStyle/>
          <a:p>
            <a:r>
              <a:rPr lang="en-GB" dirty="0"/>
              <a:t>Review the plan with others in order to identify and inform improvements.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D3AF799-C0BA-E03C-8F01-8EF02116B8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92263" y="2227823"/>
          <a:ext cx="593809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611">
                  <a:extLst>
                    <a:ext uri="{9D8B030D-6E8A-4147-A177-3AD203B41FA5}">
                      <a16:colId xmlns:a16="http://schemas.microsoft.com/office/drawing/2014/main" val="703663478"/>
                    </a:ext>
                  </a:extLst>
                </a:gridCol>
                <a:gridCol w="1893580">
                  <a:extLst>
                    <a:ext uri="{9D8B030D-6E8A-4147-A177-3AD203B41FA5}">
                      <a16:colId xmlns:a16="http://schemas.microsoft.com/office/drawing/2014/main" val="929512000"/>
                    </a:ext>
                  </a:extLst>
                </a:gridCol>
                <a:gridCol w="2240899">
                  <a:extLst>
                    <a:ext uri="{9D8B030D-6E8A-4147-A177-3AD203B41FA5}">
                      <a16:colId xmlns:a16="http://schemas.microsoft.com/office/drawing/2014/main" val="270657513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Groups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38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Daquan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Najah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654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Idriss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Vlad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01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Ahmad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772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Eliman</a:t>
                      </a:r>
                      <a:endParaRPr lang="en-GB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Yeabe</a:t>
                      </a:r>
                      <a:endParaRPr lang="en-GB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498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Israel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Chris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649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Kenneth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Gerrald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Bryan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644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Amiin</a:t>
                      </a:r>
                      <a:endParaRPr lang="en-GB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Marwan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236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1894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154AD-983B-A58D-32A5-53C54486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7783"/>
            <a:ext cx="8596668" cy="706582"/>
          </a:xfrm>
        </p:spPr>
        <p:txBody>
          <a:bodyPr>
            <a:noAutofit/>
          </a:bodyPr>
          <a:lstStyle/>
          <a:p>
            <a:r>
              <a:rPr lang="en-GB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FCBA8-0796-7825-87AA-A49C0056E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784365"/>
            <a:ext cx="8596668" cy="5642561"/>
          </a:xfrm>
        </p:spPr>
        <p:txBody>
          <a:bodyPr>
            <a:normAutofit fontScale="92500" lnSpcReduction="10000"/>
          </a:bodyPr>
          <a:lstStyle/>
          <a:p>
            <a:pPr marL="571500" indent="-457200">
              <a:lnSpc>
                <a:spcPct val="107000"/>
              </a:lnSpc>
              <a:buFont typeface="+mj-lt"/>
              <a:buAutoNum type="arabicPeriod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you have not created your report, you need to complete this.</a:t>
            </a:r>
          </a:p>
          <a:p>
            <a:pPr marL="571500" indent="-457200">
              <a:lnSpc>
                <a:spcPct val="107000"/>
              </a:lnSpc>
              <a:buFont typeface="+mj-lt"/>
              <a:buAutoNum type="arabicPeriod"/>
            </a:pP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457200">
              <a:lnSpc>
                <a:spcPct val="107000"/>
              </a:lnSpc>
              <a:buFont typeface="+mj-lt"/>
              <a:buAutoNum type="arabicPeriod"/>
            </a:pP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your report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 been reviewed.</a:t>
            </a:r>
          </a:p>
          <a:p>
            <a:pPr marL="571500" indent="-457200">
              <a:lnSpc>
                <a:spcPct val="107000"/>
              </a:lnSpc>
              <a:buFont typeface="+mj-lt"/>
              <a:buAutoNum type="arabicPeriod"/>
            </a:pP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457200">
              <a:lnSpc>
                <a:spcPct val="107000"/>
              </a:lnSpc>
              <a:buFont typeface="+mj-lt"/>
              <a:buAutoNum type="arabicPeriod"/>
            </a:pP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Justify planning decisions made, showing how the plan will fulfil its purpose and business requirements.</a:t>
            </a:r>
            <a:b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>
              <a:lnSpc>
                <a:spcPct val="107000"/>
              </a:lnSpc>
            </a:pPr>
            <a:r>
              <a:rPr lang="en-GB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report in MS Word </a:t>
            </a:r>
          </a:p>
          <a:p>
            <a:pPr marL="857250" lvl="1">
              <a:lnSpc>
                <a:spcPct val="107000"/>
              </a:lnSpc>
            </a:pPr>
            <a:r>
              <a:rPr lang="en-GB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 back to P3, why did you state what you have written.  How will the plan fulfil its purpose.  Also refer to the feedback given (P4)</a:t>
            </a:r>
            <a:endParaRPr lang="en-GB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Benefit to the organisation using the chosen social media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Timescale &amp; responsibility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audience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2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Responding to queries/complaints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4B2855-8B6E-5A20-6394-FC4AD0F112B2}"/>
              </a:ext>
            </a:extLst>
          </p:cNvPr>
          <p:cNvSpPr txBox="1"/>
          <p:nvPr/>
        </p:nvSpPr>
        <p:spPr>
          <a:xfrm>
            <a:off x="9668436" y="431074"/>
            <a:ext cx="24070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Extension</a:t>
            </a:r>
          </a:p>
          <a:p>
            <a:endParaRPr lang="en-GB" dirty="0"/>
          </a:p>
          <a:p>
            <a:r>
              <a:rPr lang="en-GB" dirty="0"/>
              <a:t>Plan how your social media platform will look.</a:t>
            </a:r>
          </a:p>
          <a:p>
            <a:endParaRPr lang="en-GB" dirty="0"/>
          </a:p>
          <a:p>
            <a:r>
              <a:rPr lang="en-GB" dirty="0"/>
              <a:t>What font will you use.</a:t>
            </a:r>
          </a:p>
          <a:p>
            <a:r>
              <a:rPr lang="en-GB" dirty="0"/>
              <a:t>What images will you include</a:t>
            </a:r>
          </a:p>
          <a:p>
            <a:r>
              <a:rPr lang="en-GB" dirty="0"/>
              <a:t>Will you have a promotion to encourage customers to follow.</a:t>
            </a:r>
          </a:p>
          <a:p>
            <a:endParaRPr lang="en-GB" dirty="0"/>
          </a:p>
          <a:p>
            <a:r>
              <a:rPr lang="en-GB" dirty="0"/>
              <a:t>Explain your points.</a:t>
            </a:r>
          </a:p>
        </p:txBody>
      </p:sp>
    </p:spTree>
    <p:extLst>
      <p:ext uri="{BB962C8B-B14F-4D97-AF65-F5344CB8AC3E}">
        <p14:creationId xmlns:p14="http://schemas.microsoft.com/office/powerpoint/2010/main" val="3148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500" y="753765"/>
            <a:ext cx="7637054" cy="59391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36800" y="292100"/>
            <a:ext cx="511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Criteria</a:t>
            </a:r>
          </a:p>
        </p:txBody>
      </p:sp>
    </p:spTree>
    <p:extLst>
      <p:ext uri="{BB962C8B-B14F-4D97-AF65-F5344CB8AC3E}">
        <p14:creationId xmlns:p14="http://schemas.microsoft.com/office/powerpoint/2010/main" val="464116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7BC55-CB35-AF8B-79F9-D6309DDE4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152" y="185371"/>
            <a:ext cx="8596668" cy="864358"/>
          </a:xfrm>
        </p:spPr>
        <p:txBody>
          <a:bodyPr>
            <a:normAutofit fontScale="90000"/>
          </a:bodyPr>
          <a:lstStyle/>
          <a:p>
            <a:r>
              <a:rPr lang="en-GB" dirty="0"/>
              <a:t>Review - What you should have completed.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83426-ECBD-D420-33B7-1A73DF20F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49729"/>
            <a:ext cx="8596668" cy="5622900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P1:- Explain the different ways in which a business can use social media.  (You must include all and give real-life example)</a:t>
            </a:r>
            <a:endParaRPr lang="en-GB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indent="-342900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Creating an image or brand</a:t>
            </a:r>
          </a:p>
          <a:p>
            <a:pPr lvl="1" indent="-342900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Promoting products and/or services and creating an image or brand</a:t>
            </a:r>
          </a:p>
          <a:p>
            <a:pPr lvl="1" indent="-342900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Communicating with customers</a:t>
            </a:r>
          </a:p>
          <a:p>
            <a:pPr lvl="1" indent="-342900">
              <a:lnSpc>
                <a:spcPct val="107000"/>
              </a:lnSpc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 services</a:t>
            </a:r>
          </a:p>
          <a:p>
            <a:pPr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Resolving queries and managing issues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P2:-</a:t>
            </a: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the audience profiles of different social media websites</a:t>
            </a: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need to research the different audience profiles for the main social media sites.</a:t>
            </a: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Facebook, Twitter, Instagram,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Youtube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Linkedin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Pinterest</a:t>
            </a:r>
          </a:p>
          <a:p>
            <a:pPr marL="457200" lvl="1" indent="0">
              <a:buNone/>
            </a:pP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Explain how the social media sites appeal to different audiences </a:t>
            </a:r>
          </a:p>
          <a:p>
            <a:pPr marL="457200" lvl="1" indent="0">
              <a:buNone/>
            </a:pPr>
            <a:r>
              <a:rPr lang="en-GB" dirty="0"/>
              <a:t>Use numerical/graphical information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68D04A-36A5-DA7C-BBA5-90E7842A7B6F}"/>
              </a:ext>
            </a:extLst>
          </p:cNvPr>
          <p:cNvGrpSpPr/>
          <p:nvPr/>
        </p:nvGrpSpPr>
        <p:grpSpPr>
          <a:xfrm>
            <a:off x="9565640" y="103510"/>
            <a:ext cx="2626360" cy="6034429"/>
            <a:chOff x="9565640" y="103510"/>
            <a:chExt cx="2626360" cy="603442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1E7857F-5C4B-2B88-6E3F-EEF0F7A13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61819" y="506739"/>
              <a:ext cx="1047320" cy="892353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05A2003-7B6E-AE20-443F-A1B64905E447}"/>
                </a:ext>
              </a:extLst>
            </p:cNvPr>
            <p:cNvSpPr txBox="1"/>
            <p:nvPr/>
          </p:nvSpPr>
          <p:spPr>
            <a:xfrm>
              <a:off x="9637385" y="103510"/>
              <a:ext cx="1503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alibri" panose="020F0502020204030204" pitchFamily="34" charset="0"/>
                  <a:cs typeface="Calibri" panose="020F0502020204030204" pitchFamily="34" charset="0"/>
                </a:rPr>
                <a:t>Facebook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33A5FEB-AF90-9F38-4BBF-E9D09816F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89896" y="1134638"/>
              <a:ext cx="1047320" cy="90294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39AE57D-4B85-AB6B-D31E-26C9AF5CC0B3}"/>
                </a:ext>
              </a:extLst>
            </p:cNvPr>
            <p:cNvSpPr txBox="1"/>
            <p:nvPr/>
          </p:nvSpPr>
          <p:spPr>
            <a:xfrm>
              <a:off x="10718958" y="729734"/>
              <a:ext cx="13489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X</a:t>
              </a:r>
              <a:r>
                <a:rPr lang="en-GB" dirty="0">
                  <a:latin typeface="Calibri" panose="020F0502020204030204" pitchFamily="34" charset="0"/>
                  <a:cs typeface="Calibri" panose="020F0502020204030204" pitchFamily="34" charset="0"/>
                </a:rPr>
                <a:t> (</a:t>
              </a:r>
              <a:r>
                <a:rPr lang="en-GB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Twitter)</a:t>
              </a:r>
              <a:endParaRPr lang="en-GB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CF21DF4-8B48-F4EC-2A81-88D4C41510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65785" y="2329389"/>
              <a:ext cx="909668" cy="80350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08CD98F-9C0D-B384-E464-DAB3CA5A8368}"/>
                </a:ext>
              </a:extLst>
            </p:cNvPr>
            <p:cNvSpPr txBox="1"/>
            <p:nvPr/>
          </p:nvSpPr>
          <p:spPr>
            <a:xfrm>
              <a:off x="9565785" y="1998839"/>
              <a:ext cx="12241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alibri" panose="020F0502020204030204" pitchFamily="34" charset="0"/>
                  <a:cs typeface="Calibri" panose="020F0502020204030204" pitchFamily="34" charset="0"/>
                </a:rPr>
                <a:t>Instagram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3682436-7A88-A237-6BC6-8F3479C5A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03166" y="2914373"/>
              <a:ext cx="1264770" cy="82391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DFD5BDA-237E-2A83-A32B-BB7E16CE3B79}"/>
                </a:ext>
              </a:extLst>
            </p:cNvPr>
            <p:cNvSpPr txBox="1"/>
            <p:nvPr/>
          </p:nvSpPr>
          <p:spPr>
            <a:xfrm>
              <a:off x="10771411" y="2514701"/>
              <a:ext cx="11753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err="1">
                  <a:latin typeface="Calibri" panose="020F0502020204030204" pitchFamily="34" charset="0"/>
                  <a:cs typeface="Calibri" panose="020F0502020204030204" pitchFamily="34" charset="0"/>
                </a:rPr>
                <a:t>Youtube</a:t>
              </a:r>
              <a:endParaRPr lang="en-GB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ACAFB5A-6393-9915-D28D-3C0C34115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65640" y="4105379"/>
              <a:ext cx="1266835" cy="823913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9A4E9F-6C71-D857-CEEE-8C197EE6EB4D}"/>
                </a:ext>
              </a:extLst>
            </p:cNvPr>
            <p:cNvSpPr txBox="1"/>
            <p:nvPr/>
          </p:nvSpPr>
          <p:spPr>
            <a:xfrm>
              <a:off x="9565640" y="3699708"/>
              <a:ext cx="1175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alibri" panose="020F0502020204030204" pitchFamily="34" charset="0"/>
                  <a:cs typeface="Calibri" panose="020F0502020204030204" pitchFamily="34" charset="0"/>
                </a:rPr>
                <a:t>Pinterest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40BAF0F-6738-FE5F-3BDE-0ED95AFDA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416219" y="5619466"/>
              <a:ext cx="1775781" cy="518473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54571B1-FCD0-B393-A1BE-E0A45796B5CB}"/>
                </a:ext>
              </a:extLst>
            </p:cNvPr>
            <p:cNvSpPr txBox="1"/>
            <p:nvPr/>
          </p:nvSpPr>
          <p:spPr>
            <a:xfrm>
              <a:off x="10607471" y="5153479"/>
              <a:ext cx="1503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err="1">
                  <a:latin typeface="Calibri" panose="020F0502020204030204" pitchFamily="34" charset="0"/>
                  <a:cs typeface="Calibri" panose="020F0502020204030204" pitchFamily="34" charset="0"/>
                </a:rPr>
                <a:t>Linkedin</a:t>
              </a:r>
              <a:endParaRPr lang="en-GB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2697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437B6-C19E-5CEE-E9A9-653848B67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96119"/>
          </a:xfrm>
        </p:spPr>
        <p:txBody>
          <a:bodyPr>
            <a:normAutofit fontScale="90000"/>
          </a:bodyPr>
          <a:lstStyle/>
          <a:p>
            <a:r>
              <a:rPr lang="en-GB" dirty="0"/>
              <a:t>Review - What you should have completed.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36AA4-C4F8-CCDB-1C3F-D86901900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1255"/>
            <a:ext cx="8596668" cy="4540108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M1:- Assess the different ways in which a business can use social media to attract a target audience</a:t>
            </a:r>
            <a:endParaRPr lang="en-GB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Promotion of products</a:t>
            </a:r>
            <a:endParaRPr lang="en-GB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Building relationships</a:t>
            </a:r>
            <a:endParaRPr lang="en-GB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audiences and encourage people to follow or like</a:t>
            </a:r>
            <a:endParaRPr lang="en-GB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 and indirect advertising</a:t>
            </a:r>
            <a:endParaRPr lang="en-GB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GB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27D828D-35E1-E5AC-306A-867ACC1F1754}"/>
              </a:ext>
            </a:extLst>
          </p:cNvPr>
          <p:cNvGrpSpPr/>
          <p:nvPr/>
        </p:nvGrpSpPr>
        <p:grpSpPr>
          <a:xfrm>
            <a:off x="9565640" y="103510"/>
            <a:ext cx="2626360" cy="6034429"/>
            <a:chOff x="9565640" y="103510"/>
            <a:chExt cx="2626360" cy="603442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F3FC928-EFE2-2F37-866F-8923E76DB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61819" y="506739"/>
              <a:ext cx="1047320" cy="89235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EFEC5B8-9AE2-EEAB-A745-B1C2C424107E}"/>
                </a:ext>
              </a:extLst>
            </p:cNvPr>
            <p:cNvSpPr txBox="1"/>
            <p:nvPr/>
          </p:nvSpPr>
          <p:spPr>
            <a:xfrm>
              <a:off x="9637385" y="103510"/>
              <a:ext cx="1503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alibri" panose="020F0502020204030204" pitchFamily="34" charset="0"/>
                  <a:cs typeface="Calibri" panose="020F0502020204030204" pitchFamily="34" charset="0"/>
                </a:rPr>
                <a:t>Facebook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583B8BA-885C-786B-5ED3-61E1694F2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89896" y="1134638"/>
              <a:ext cx="1047320" cy="90294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A7EB22-FF44-C006-EF76-99D9006084FF}"/>
                </a:ext>
              </a:extLst>
            </p:cNvPr>
            <p:cNvSpPr txBox="1"/>
            <p:nvPr/>
          </p:nvSpPr>
          <p:spPr>
            <a:xfrm>
              <a:off x="10718958" y="729734"/>
              <a:ext cx="13489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1" dirty="0">
                  <a:latin typeface="Calibri" panose="020F0502020204030204" pitchFamily="34" charset="0"/>
                  <a:cs typeface="Calibri" panose="020F0502020204030204" pitchFamily="34" charset="0"/>
                </a:rPr>
                <a:t>X</a:t>
              </a:r>
              <a:r>
                <a:rPr lang="en-GB" dirty="0">
                  <a:latin typeface="Calibri" panose="020F0502020204030204" pitchFamily="34" charset="0"/>
                  <a:cs typeface="Calibri" panose="020F0502020204030204" pitchFamily="34" charset="0"/>
                </a:rPr>
                <a:t> (</a:t>
              </a:r>
              <a:r>
                <a:rPr lang="en-GB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Twitter)</a:t>
              </a:r>
              <a:endParaRPr lang="en-GB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08E7EF8-4F1C-DD0C-2EC2-021071DF6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65785" y="2329389"/>
              <a:ext cx="909668" cy="803504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C9BA222-9F39-0E74-F9D8-8DE19CC2B1FF}"/>
                </a:ext>
              </a:extLst>
            </p:cNvPr>
            <p:cNvSpPr txBox="1"/>
            <p:nvPr/>
          </p:nvSpPr>
          <p:spPr>
            <a:xfrm>
              <a:off x="9565785" y="1998839"/>
              <a:ext cx="12241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alibri" panose="020F0502020204030204" pitchFamily="34" charset="0"/>
                  <a:cs typeface="Calibri" panose="020F0502020204030204" pitchFamily="34" charset="0"/>
                </a:rPr>
                <a:t>Instagram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9ED142E-9243-4792-D593-8399775D3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03166" y="2914373"/>
              <a:ext cx="1264770" cy="823912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C3FA68D-EF7A-7BF2-E928-1D218DFE2FBD}"/>
                </a:ext>
              </a:extLst>
            </p:cNvPr>
            <p:cNvSpPr txBox="1"/>
            <p:nvPr/>
          </p:nvSpPr>
          <p:spPr>
            <a:xfrm>
              <a:off x="10771411" y="2514701"/>
              <a:ext cx="11753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err="1">
                  <a:latin typeface="Calibri" panose="020F0502020204030204" pitchFamily="34" charset="0"/>
                  <a:cs typeface="Calibri" panose="020F0502020204030204" pitchFamily="34" charset="0"/>
                </a:rPr>
                <a:t>Youtube</a:t>
              </a:r>
              <a:endParaRPr lang="en-GB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7372A89-CEB3-C2F9-6BCD-F1B130D8C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65640" y="4105379"/>
              <a:ext cx="1266835" cy="823913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EDDABF6-A19A-C6F4-5E25-5DE223C49443}"/>
                </a:ext>
              </a:extLst>
            </p:cNvPr>
            <p:cNvSpPr txBox="1"/>
            <p:nvPr/>
          </p:nvSpPr>
          <p:spPr>
            <a:xfrm>
              <a:off x="9565640" y="3699708"/>
              <a:ext cx="11753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Calibri" panose="020F0502020204030204" pitchFamily="34" charset="0"/>
                  <a:cs typeface="Calibri" panose="020F0502020204030204" pitchFamily="34" charset="0"/>
                </a:rPr>
                <a:t>Pinterest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650E006-7033-A4E6-5668-04B393638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416219" y="5619466"/>
              <a:ext cx="1775781" cy="51847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9779DCF-4750-EB4D-D238-D5D61002A952}"/>
                </a:ext>
              </a:extLst>
            </p:cNvPr>
            <p:cNvSpPr txBox="1"/>
            <p:nvPr/>
          </p:nvSpPr>
          <p:spPr>
            <a:xfrm>
              <a:off x="10607471" y="5153479"/>
              <a:ext cx="1503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 err="1">
                  <a:latin typeface="Calibri" panose="020F0502020204030204" pitchFamily="34" charset="0"/>
                  <a:cs typeface="Calibri" panose="020F0502020204030204" pitchFamily="34" charset="0"/>
                </a:rPr>
                <a:t>Linkedin</a:t>
              </a:r>
              <a:endParaRPr lang="en-GB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743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5200" y="2404534"/>
            <a:ext cx="8889999" cy="1646302"/>
          </a:xfrm>
        </p:spPr>
        <p:txBody>
          <a:bodyPr>
            <a:normAutofit fontScale="90000"/>
          </a:bodyPr>
          <a:lstStyle/>
          <a:p>
            <a:pPr algn="l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Unit 3:- </a:t>
            </a:r>
            <a:b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Using Social Media in Business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2"/>
            <a:ext cx="7766936" cy="2377263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Calibri" panose="020F0502020204030204" pitchFamily="34" charset="0"/>
                <a:cs typeface="Calibri" panose="020F0502020204030204" pitchFamily="34" charset="0"/>
              </a:rPr>
              <a:t>6 May 2025</a:t>
            </a:r>
          </a:p>
          <a:p>
            <a:endParaRPr lang="en-GB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22 April 2025</a:t>
            </a: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5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5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5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5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665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71" y="186718"/>
            <a:ext cx="8596668" cy="76200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EC7114"/>
                </a:solidFill>
              </a:rPr>
              <a:t>The Basic Expectations in EVERY lesson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729" y="958697"/>
            <a:ext cx="3372152" cy="5080000"/>
          </a:xfrm>
        </p:spPr>
        <p:txBody>
          <a:bodyPr>
            <a:normAutofit fontScale="92500" lnSpcReduction="10000"/>
          </a:bodyPr>
          <a:lstStyle/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Be on time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Lanyard </a:t>
            </a:r>
            <a:r>
              <a:rPr lang="en-GB" sz="2200" b="1" u="sng" dirty="0">
                <a:latin typeface="Calibri" panose="020F0502020204030204" pitchFamily="34" charset="0"/>
                <a:cs typeface="Calibri" panose="020F0502020204030204" pitchFamily="34" charset="0"/>
              </a:rPr>
              <a:t>MUST</a:t>
            </a:r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 be worn at all times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Mobile phones off and in bags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No food or drink in the classroom (except water)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Be prepared to learn for every lesson (pen, paper, folder etc.)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Sit according to the seating plan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Work hard </a:t>
            </a:r>
          </a:p>
          <a:p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Be respectful 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B47D0A-9A16-4E92-9131-BEC5042F9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29881" y="958697"/>
            <a:ext cx="3372152" cy="4356253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GB" sz="2500" b="1" dirty="0">
                <a:latin typeface="Calibri" panose="020F0502020204030204" pitchFamily="34" charset="0"/>
                <a:cs typeface="Calibri" panose="020F0502020204030204" pitchFamily="34" charset="0"/>
              </a:rPr>
              <a:t>DO NOW</a:t>
            </a:r>
          </a:p>
          <a:p>
            <a:pPr algn="ctr"/>
            <a:r>
              <a:rPr lang="en-GB" sz="2500" b="1" dirty="0">
                <a:latin typeface="Calibri" panose="020F0502020204030204" pitchFamily="34" charset="0"/>
                <a:cs typeface="Calibri" panose="020F0502020204030204" pitchFamily="34" charset="0"/>
              </a:rPr>
              <a:t>Q/A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565" y="194826"/>
            <a:ext cx="1698003" cy="14510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2AC77C-476B-4F28-A7FC-771A97829AF8}"/>
              </a:ext>
            </a:extLst>
          </p:cNvPr>
          <p:cNvSpPr txBox="1"/>
          <p:nvPr/>
        </p:nvSpPr>
        <p:spPr>
          <a:xfrm>
            <a:off x="7314214" y="883639"/>
            <a:ext cx="2965351" cy="603242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C- 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Connecting what you know already</a:t>
            </a:r>
          </a:p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O-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nline Learning, using sites like Canvas</a:t>
            </a:r>
            <a:endParaRPr lang="en-GB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N-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Cornell notes  for your note taking</a:t>
            </a:r>
          </a:p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S –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pacing out your learning over time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I- 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nterleaving your subjects and topics to make connections</a:t>
            </a:r>
          </a:p>
          <a:p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D-</a:t>
            </a:r>
            <a:r>
              <a:rPr lang="en-GB" sz="1400" b="1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ual Coding your ideas through words and images  </a:t>
            </a:r>
          </a:p>
          <a:p>
            <a:endParaRPr lang="en-GB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E- 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Elaborating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by always asking Why? and How?</a:t>
            </a:r>
          </a:p>
          <a:p>
            <a:r>
              <a:rPr lang="en-GB" sz="3200" b="1" dirty="0">
                <a:latin typeface="Calibri" panose="020F0502020204030204" pitchFamily="34" charset="0"/>
                <a:cs typeface="Calibri" panose="020F0502020204030204" pitchFamily="34" charset="0"/>
              </a:rPr>
              <a:t>R-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GB" sz="1400" dirty="0">
                <a:latin typeface="Calibri" panose="020F0502020204030204" pitchFamily="34" charset="0"/>
                <a:cs typeface="Calibri" panose="020F0502020204030204" pitchFamily="34" charset="0"/>
              </a:rPr>
              <a:t>etrieve</a:t>
            </a:r>
            <a:r>
              <a:rPr lang="en-GB" sz="1400" dirty="0">
                <a:highlight>
                  <a:srgbClr val="00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dirty="0">
                <a:highlight>
                  <a:srgbClr val="00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980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65B404-910D-4E67-39F1-129E29943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Aims/Objectives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ED4AE2-3689-A5F0-8124-0D04B1D67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4901"/>
            <a:ext cx="8596668" cy="4733499"/>
          </a:xfrm>
        </p:spPr>
        <p:txBody>
          <a:bodyPr>
            <a:normAutofit/>
          </a:bodyPr>
          <a:lstStyle/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What: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Create your social media platform</a:t>
            </a: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How:</a:t>
            </a:r>
            <a:r>
              <a:rPr lang="en-GB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Using the social media platform stated in your report or    		         fake social media</a:t>
            </a:r>
          </a:p>
          <a:p>
            <a:endParaRPr lang="en-GB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Why: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To show the impact of social media on audiences.</a:t>
            </a:r>
          </a:p>
        </p:txBody>
      </p:sp>
    </p:spTree>
    <p:extLst>
      <p:ext uri="{BB962C8B-B14F-4D97-AF65-F5344CB8AC3E}">
        <p14:creationId xmlns:p14="http://schemas.microsoft.com/office/powerpoint/2010/main" val="255027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73C38-A22A-73FD-D16E-A314AD2D2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your Social Media platform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EAA52C-28B5-C358-5159-901C0B2884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0371" y="2632449"/>
            <a:ext cx="7778426" cy="3032966"/>
          </a:xfr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AB6B42-F0EC-039D-4104-8A47F650EEA9}"/>
              </a:ext>
            </a:extLst>
          </p:cNvPr>
          <p:cNvCxnSpPr/>
          <p:nvPr/>
        </p:nvCxnSpPr>
        <p:spPr>
          <a:xfrm>
            <a:off x="779929" y="4397188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F10C409-6129-6D05-6194-8BEB33D8D5F0}"/>
              </a:ext>
            </a:extLst>
          </p:cNvPr>
          <p:cNvSpPr txBox="1"/>
          <p:nvPr/>
        </p:nvSpPr>
        <p:spPr>
          <a:xfrm>
            <a:off x="497541" y="1546412"/>
            <a:ext cx="2568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your social media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B54BBE-F685-BFF3-748C-C83A0614CD5B}"/>
              </a:ext>
            </a:extLst>
          </p:cNvPr>
          <p:cNvCxnSpPr/>
          <p:nvPr/>
        </p:nvCxnSpPr>
        <p:spPr>
          <a:xfrm>
            <a:off x="779929" y="2192743"/>
            <a:ext cx="0" cy="22044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96650F5-94BB-9736-979D-BB61814C666D}"/>
              </a:ext>
            </a:extLst>
          </p:cNvPr>
          <p:cNvSpPr txBox="1"/>
          <p:nvPr/>
        </p:nvSpPr>
        <p:spPr>
          <a:xfrm>
            <a:off x="3527612" y="5925234"/>
            <a:ext cx="25683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Show evidence of communication with your audience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4EEEFA-9FBA-2377-7186-C914C6D93357}"/>
              </a:ext>
            </a:extLst>
          </p:cNvPr>
          <p:cNvCxnSpPr>
            <a:cxnSpLocks/>
          </p:cNvCxnSpPr>
          <p:nvPr/>
        </p:nvCxnSpPr>
        <p:spPr>
          <a:xfrm>
            <a:off x="3065929" y="5665415"/>
            <a:ext cx="0" cy="506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BF6441E-32EB-C845-087A-EFFBB476DCBF}"/>
              </a:ext>
            </a:extLst>
          </p:cNvPr>
          <p:cNvCxnSpPr/>
          <p:nvPr/>
        </p:nvCxnSpPr>
        <p:spPr>
          <a:xfrm>
            <a:off x="3065929" y="6172200"/>
            <a:ext cx="4616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691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4FBBD-6D78-1979-106E-CA5656869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24447" y="1587500"/>
            <a:ext cx="5993873" cy="4834862"/>
          </a:xfrm>
        </p:spPr>
        <p:txBody>
          <a:bodyPr/>
          <a:lstStyle/>
          <a:p>
            <a:r>
              <a:rPr lang="en-GB" sz="2000" u="sng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https://www.prankmenot.com/?facebook_status</a:t>
            </a:r>
            <a:r>
              <a:rPr lang="en-GB" sz="2000" u="sng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  </a:t>
            </a:r>
          </a:p>
          <a:p>
            <a:endParaRPr lang="en-GB" sz="2000" u="sng" dirty="0">
              <a:solidFill>
                <a:schemeClr val="tx1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r>
              <a:rPr lang="en-GB" sz="2000" u="sng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https://www.tweetgen.com/</a:t>
            </a:r>
            <a:endParaRPr lang="en-GB" sz="2000" u="sng" dirty="0"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endParaRPr lang="en-GB" sz="2000" u="sng" dirty="0">
              <a:solidFill>
                <a:schemeClr val="tx1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r>
              <a:rPr lang="en-GB" sz="2000" u="sng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</a:t>
            </a:r>
            <a:r>
              <a:rPr lang="en-GB" sz="2000" u="sng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https://generatestatus.com/generate-fake-instagram-post/</a:t>
            </a:r>
            <a:endParaRPr lang="en-GB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u="sng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        </a:t>
            </a:r>
          </a:p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BCF1DC-AEC3-4439-391F-32A0F0DB91A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/>
          <a:stretch>
            <a:fillRect/>
          </a:stretch>
        </p:blipFill>
        <p:spPr>
          <a:xfrm>
            <a:off x="973680" y="2819400"/>
            <a:ext cx="3928519" cy="1982091"/>
          </a:xfr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15C835-F36F-EEC9-AE6E-8CC42CA2B875}"/>
              </a:ext>
            </a:extLst>
          </p:cNvPr>
          <p:cNvCxnSpPr>
            <a:cxnSpLocks/>
          </p:cNvCxnSpPr>
          <p:nvPr/>
        </p:nvCxnSpPr>
        <p:spPr>
          <a:xfrm>
            <a:off x="779929" y="2192743"/>
            <a:ext cx="0" cy="1236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674056-7B34-CB22-3A49-985290220FEA}"/>
              </a:ext>
            </a:extLst>
          </p:cNvPr>
          <p:cNvCxnSpPr>
            <a:cxnSpLocks/>
          </p:cNvCxnSpPr>
          <p:nvPr/>
        </p:nvCxnSpPr>
        <p:spPr>
          <a:xfrm>
            <a:off x="779929" y="3429000"/>
            <a:ext cx="1937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0">
            <a:extLst>
              <a:ext uri="{FF2B5EF4-FFF2-40B4-BE49-F238E27FC236}">
                <a16:creationId xmlns:a16="http://schemas.microsoft.com/office/drawing/2014/main" id="{E108B4E1-FC8F-E801-E721-E3290C76BB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763" y="266700"/>
            <a:ext cx="8596312" cy="132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your social media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47DD05-119C-38F7-F1FF-72D28511FF8B}"/>
              </a:ext>
            </a:extLst>
          </p:cNvPr>
          <p:cNvSpPr txBox="1"/>
          <p:nvPr/>
        </p:nvSpPr>
        <p:spPr>
          <a:xfrm>
            <a:off x="497541" y="1546412"/>
            <a:ext cx="2568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Create your social media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509A97-520B-7F95-1B71-276FF5001A39}"/>
              </a:ext>
            </a:extLst>
          </p:cNvPr>
          <p:cNvSpPr txBox="1"/>
          <p:nvPr/>
        </p:nvSpPr>
        <p:spPr>
          <a:xfrm>
            <a:off x="1509562" y="5004366"/>
            <a:ext cx="25683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Show evidence of communication with your audience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84E19D-CFE1-E93C-ADFA-7B3C92C15466}"/>
              </a:ext>
            </a:extLst>
          </p:cNvPr>
          <p:cNvCxnSpPr>
            <a:cxnSpLocks/>
          </p:cNvCxnSpPr>
          <p:nvPr/>
        </p:nvCxnSpPr>
        <p:spPr>
          <a:xfrm>
            <a:off x="1108148" y="4801491"/>
            <a:ext cx="0" cy="506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77983C-9EF6-E3D2-BA80-C1EB2E27DB85}"/>
              </a:ext>
            </a:extLst>
          </p:cNvPr>
          <p:cNvCxnSpPr/>
          <p:nvPr/>
        </p:nvCxnSpPr>
        <p:spPr>
          <a:xfrm>
            <a:off x="1108148" y="5308276"/>
            <a:ext cx="4616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0E9D05A-1FB7-9C7D-15D8-41DDCDEA5AD1}"/>
              </a:ext>
            </a:extLst>
          </p:cNvPr>
          <p:cNvSpPr txBox="1"/>
          <p:nvPr/>
        </p:nvSpPr>
        <p:spPr>
          <a:xfrm>
            <a:off x="5727700" y="4622800"/>
            <a:ext cx="414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Submission for P5 &amp; P6 </a:t>
            </a:r>
          </a:p>
          <a:p>
            <a:r>
              <a:rPr lang="en-GB" dirty="0"/>
              <a:t>Tuesday 29 April 2025 – by 12:45 rescheduled due to work experience to Thursday 8 May 2025 by 21:00pm</a:t>
            </a:r>
          </a:p>
        </p:txBody>
      </p:sp>
    </p:spTree>
    <p:extLst>
      <p:ext uri="{BB962C8B-B14F-4D97-AF65-F5344CB8AC3E}">
        <p14:creationId xmlns:p14="http://schemas.microsoft.com/office/powerpoint/2010/main" val="384968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624D4-2B1D-6CD7-AAFE-966A21350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094463" cy="1320800"/>
          </a:xfrm>
        </p:spPr>
        <p:txBody>
          <a:bodyPr/>
          <a:lstStyle/>
          <a:p>
            <a:r>
              <a:rPr lang="en-GB" dirty="0"/>
              <a:t>Social Media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36BF4-EFDB-2D32-7A83-32BD03161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760561"/>
            <a:ext cx="9422009" cy="4280801"/>
          </a:xfrm>
        </p:spPr>
        <p:txBody>
          <a:bodyPr/>
          <a:lstStyle/>
          <a:p>
            <a:r>
              <a:rPr lang="en-GB" sz="2800" u="sng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https://www.prankmenot.com/?facebook_status</a:t>
            </a:r>
            <a:r>
              <a:rPr lang="en-GB" sz="2800" u="sng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                 </a:t>
            </a:r>
          </a:p>
          <a:p>
            <a:endParaRPr lang="en-GB" sz="2800" u="sng" dirty="0">
              <a:solidFill>
                <a:schemeClr val="tx1"/>
              </a:solidFill>
              <a:latin typeface="Calibri" panose="020F0502020204030204" pitchFamily="34" charset="0"/>
              <a:ea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GB" sz="2800" u="sng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https://www.tweetgen.com/</a:t>
            </a:r>
            <a:endParaRPr lang="en-GB" sz="2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/>
            <a:endParaRPr lang="en-GB" sz="2800" dirty="0"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/>
            <a:r>
              <a:rPr lang="en-GB" sz="2800" u="sng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https://generatestatus.com/generate-fake-instagram-post/</a:t>
            </a:r>
            <a:endParaRPr lang="en-GB" sz="28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7150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B6262-2991-5FF2-D6EE-1608F943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Plenary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8C92A-B1FA-A45E-B80B-997954662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What impact does social media have on you.</a:t>
            </a:r>
          </a:p>
        </p:txBody>
      </p:sp>
    </p:spTree>
    <p:extLst>
      <p:ext uri="{BB962C8B-B14F-4D97-AF65-F5344CB8AC3E}">
        <p14:creationId xmlns:p14="http://schemas.microsoft.com/office/powerpoint/2010/main" val="281429894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33808931C6CF4A913281D8FA2DF834" ma:contentTypeVersion="4" ma:contentTypeDescription="Create a new document." ma:contentTypeScope="" ma:versionID="eb8a6470629d1008c7aa1c789170783c">
  <xsd:schema xmlns:xsd="http://www.w3.org/2001/XMLSchema" xmlns:xs="http://www.w3.org/2001/XMLSchema" xmlns:p="http://schemas.microsoft.com/office/2006/metadata/properties" xmlns:ns2="7611d4d5-4c5c-4f2c-9a30-352b3cb7ffd3" targetNamespace="http://schemas.microsoft.com/office/2006/metadata/properties" ma:root="true" ma:fieldsID="f9e37b26c9dd12a86e0db48467ee0277" ns2:_="">
    <xsd:import namespace="7611d4d5-4c5c-4f2c-9a30-352b3cb7ff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11d4d5-4c5c-4f2c-9a30-352b3cb7ff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0879936-FAE8-4CCA-9CBB-A01359CAB25A}"/>
</file>

<file path=customXml/itemProps2.xml><?xml version="1.0" encoding="utf-8"?>
<ds:datastoreItem xmlns:ds="http://schemas.openxmlformats.org/officeDocument/2006/customXml" ds:itemID="{92349A0D-5E46-4EAC-B5E4-460589967ACA}"/>
</file>

<file path=customXml/itemProps3.xml><?xml version="1.0" encoding="utf-8"?>
<ds:datastoreItem xmlns:ds="http://schemas.openxmlformats.org/officeDocument/2006/customXml" ds:itemID="{B4A559B8-8C5A-4EDB-AF0A-AE45CC14D91C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1175</TotalTime>
  <Words>1471</Words>
  <Application>Microsoft Office PowerPoint</Application>
  <PresentationFormat>Widescreen</PresentationFormat>
  <Paragraphs>251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Symbol</vt:lpstr>
      <vt:lpstr>Times New Roman</vt:lpstr>
      <vt:lpstr>Trebuchet MS</vt:lpstr>
      <vt:lpstr>Wingdings 3</vt:lpstr>
      <vt:lpstr>Facet</vt:lpstr>
      <vt:lpstr>The Basic Expectations in EVERY lesson </vt:lpstr>
      <vt:lpstr>Unit 3:-  Using Social Media in Business</vt:lpstr>
      <vt:lpstr>The Basic Expectations in EVERY lesson </vt:lpstr>
      <vt:lpstr>Aims/Objectives</vt:lpstr>
      <vt:lpstr>What is Social Media</vt:lpstr>
      <vt:lpstr>Task 2 – Produce a plan to use social media in a business to meet its business requirements</vt:lpstr>
      <vt:lpstr>Task 2 – Produce a plan to use social media in a business to meet its business requirements</vt:lpstr>
      <vt:lpstr>Task 2 – Produce a plan to use social media in a business to meet its business requirements</vt:lpstr>
      <vt:lpstr>Review the plan with others in order to identify and inform improvements.</vt:lpstr>
      <vt:lpstr>Review the plan with others in order to identify and inform improvements.</vt:lpstr>
      <vt:lpstr> Task</vt:lpstr>
      <vt:lpstr>PowerPoint Presentation</vt:lpstr>
      <vt:lpstr>Review - What you should have completed. </vt:lpstr>
      <vt:lpstr>Review - What you should have completed. </vt:lpstr>
      <vt:lpstr>Unit 3:-  Using Social Media in Business</vt:lpstr>
      <vt:lpstr>The Basic Expectations in EVERY lesson </vt:lpstr>
      <vt:lpstr>Aims/Objectives</vt:lpstr>
      <vt:lpstr>Creating your Social Media platform</vt:lpstr>
      <vt:lpstr>Create your social media</vt:lpstr>
      <vt:lpstr>Social Media Platform</vt:lpstr>
      <vt:lpstr>Plenary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Dionne Lemonius</dc:creator>
  <cp:lastModifiedBy>Dionne Lemonius</cp:lastModifiedBy>
  <cp:revision>15</cp:revision>
  <dcterms:created xsi:type="dcterms:W3CDTF">2025-03-04T10:10:30Z</dcterms:created>
  <dcterms:modified xsi:type="dcterms:W3CDTF">2025-05-06T12:25:30Z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0x010100D233808931C6CF4A913281D8FA2DF834</vt:lpwstr>
  </property>
</Properties>
</file>